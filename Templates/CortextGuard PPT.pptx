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80" r:id="rId2"/>
    <p:sldId id="281" r:id="rId3"/>
    <p:sldId id="289" r:id="rId4"/>
    <p:sldId id="290" r:id="rId5"/>
    <p:sldId id="291" r:id="rId6"/>
    <p:sldId id="292" r:id="rId7"/>
    <p:sldId id="293" r:id="rId8"/>
    <p:sldId id="294" r:id="rId9"/>
    <p:sldId id="306" r:id="rId10"/>
    <p:sldId id="295" r:id="rId11"/>
    <p:sldId id="296" r:id="rId12"/>
    <p:sldId id="304" r:id="rId13"/>
    <p:sldId id="297" r:id="rId14"/>
    <p:sldId id="298" r:id="rId15"/>
    <p:sldId id="299" r:id="rId16"/>
    <p:sldId id="300" r:id="rId17"/>
    <p:sldId id="301" r:id="rId18"/>
    <p:sldId id="302" r:id="rId19"/>
    <p:sldId id="30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544" y="-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3ADEF-1232-40E6-AA0C-2DC4E3D89003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E719B-CAD1-4CDF-AC07-FD62E51C14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81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BFD01EB-C9A3-4136-A0B1-C6AEC703FF81}" type="slidenum">
              <a:rPr lang="en-US" smtClean="0"/>
              <a:t>1</a:t>
            </a:fld>
            <a:endParaRPr lang="en-US"/>
          </a:p>
        </p:txBody>
      </p:sp>
      <p:sp>
        <p:nvSpPr>
          <p:cNvPr id="1048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08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BFD01EB-C9A3-4136-A0B1-C6AEC703FF81}" type="slidenum">
              <a:rPr lang="en-US" smtClean="0"/>
              <a:t>2</a:t>
            </a:fld>
            <a:endParaRPr lang="en-US"/>
          </a:p>
        </p:txBody>
      </p:sp>
      <p:sp>
        <p:nvSpPr>
          <p:cNvPr id="1048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8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0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E43D5-2594-4735-80B7-F0E4544112AC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980D-9641-4D55-BA26-2EDCEA9EE1F9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37F8-03A0-4970-9A0A-BCE5C1C1EC0E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D62D7-D6ED-44F8-A2FC-AD370DF5A044}" type="datetime1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6229-4D31-4440-844B-D28A91210DCE}" type="datetime1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690D-B474-4F2D-8063-C3D6525BFDB7}" type="datetime1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D96AC-A833-40E3-8856-0B511BFD0B34}" type="datetime1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C083-5B51-4A6F-8A8D-25BF65281288}" type="datetime1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58CEF-DEAA-4FD7-A123-4034F0FFBE51}" type="datetime1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D07B-0D58-4238-8D9E-3917EDEFBF11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D4D9-60EA-4115-9F62-3D25530A60C4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3102E-B0BC-4EBE-905A-EE89488B9FC5}" type="datetime1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ICIMSI-2021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43608" y="160813"/>
            <a:ext cx="6984776" cy="1035939"/>
          </a:xfrm>
          <a:solidFill>
            <a:schemeClr val="bg1"/>
          </a:solidFill>
          <a:effectLst>
            <a:outerShdw dist="35921" dir="2700000" algn="ctr" rotWithShape="0">
              <a:schemeClr val="accent1">
                <a:alpha val="50000"/>
              </a:schemeClr>
            </a:outerShdw>
          </a:effectLst>
        </p:spPr>
        <p:txBody>
          <a:bodyPr>
            <a:noAutofit/>
          </a:bodyPr>
          <a:lstStyle/>
          <a:p>
            <a:r>
              <a:rPr lang="en-US" sz="1600" dirty="0"/>
              <a:t>Nutan Maharashtra </a:t>
            </a:r>
            <a:r>
              <a:rPr lang="en-US" sz="1600" dirty="0" err="1"/>
              <a:t>Vidya</a:t>
            </a:r>
            <a:r>
              <a:rPr lang="en-US" sz="1600" dirty="0"/>
              <a:t> </a:t>
            </a:r>
            <a:r>
              <a:rPr lang="en-US" sz="1600" dirty="0" err="1"/>
              <a:t>Prasarak</a:t>
            </a:r>
            <a:r>
              <a:rPr lang="en-US" sz="1600" dirty="0"/>
              <a:t> </a:t>
            </a:r>
            <a:r>
              <a:rPr lang="en-US" sz="1600" dirty="0" err="1"/>
              <a:t>Mandal’s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800" dirty="0"/>
              <a:t> </a:t>
            </a:r>
            <a:r>
              <a:rPr lang="en-US" sz="1800" b="1" dirty="0"/>
              <a:t>NUTAN COLLEGE OF ENGINEERING AND RESEARCH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600" dirty="0"/>
              <a:t>Under Administrative Support of </a:t>
            </a:r>
            <a:r>
              <a:rPr lang="en-US" sz="1600" dirty="0" err="1"/>
              <a:t>Pimpri</a:t>
            </a:r>
            <a:r>
              <a:rPr lang="en-US" sz="1600" dirty="0"/>
              <a:t> </a:t>
            </a:r>
            <a:r>
              <a:rPr lang="en-US" sz="1600" dirty="0" err="1"/>
              <a:t>Chinchwad</a:t>
            </a:r>
            <a:r>
              <a:rPr lang="en-US" sz="1600" dirty="0"/>
              <a:t>  Education Trust </a:t>
            </a:r>
            <a:br>
              <a:rPr lang="en-US" sz="1600" dirty="0"/>
            </a:br>
            <a:r>
              <a:rPr lang="en-US" sz="1600" dirty="0"/>
              <a:t>ISO 21001:2018 EOMS Certified </a:t>
            </a:r>
            <a:r>
              <a:rPr lang="en-US" sz="1200" dirty="0"/>
              <a:t>	</a:t>
            </a:r>
            <a:br>
              <a:rPr lang="en-US" sz="1200" dirty="0"/>
            </a:br>
            <a:endParaRPr lang="en-US" sz="1400" dirty="0"/>
          </a:p>
        </p:txBody>
      </p:sp>
      <p:pic>
        <p:nvPicPr>
          <p:cNvPr id="209715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9232"/>
            <a:ext cx="1202454" cy="103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601" name="TextBox 7"/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Seminar- II / Review -1 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b="1" smtClean="0">
                <a:solidFill>
                  <a:schemeClr val="tx1"/>
                </a:solidFill>
              </a:rPr>
              <a:pPr/>
              <a:t>1</a:t>
            </a:fld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484784"/>
            <a:ext cx="80917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Presentation on</a:t>
            </a:r>
          </a:p>
          <a:p>
            <a:endParaRPr lang="en-US" dirty="0"/>
          </a:p>
          <a:p>
            <a:pPr algn="ctr"/>
            <a:r>
              <a:rPr lang="en-US" b="1" dirty="0" err="1" smtClean="0"/>
              <a:t>CortextGuard</a:t>
            </a:r>
            <a:r>
              <a:rPr lang="en-US" b="1" dirty="0" smtClean="0"/>
              <a:t> – Agentic AI cloud Misconfiguration portal</a:t>
            </a:r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dirty="0"/>
              <a:t>By</a:t>
            </a:r>
          </a:p>
          <a:p>
            <a:pPr algn="ctr"/>
            <a:endParaRPr lang="en-US" dirty="0"/>
          </a:p>
          <a:p>
            <a:pPr algn="ctr"/>
            <a:r>
              <a:rPr lang="en-US" b="1" dirty="0" err="1" smtClean="0"/>
              <a:t>Vedant</a:t>
            </a:r>
            <a:r>
              <a:rPr lang="en-US" b="1" dirty="0" smtClean="0"/>
              <a:t> </a:t>
            </a:r>
            <a:r>
              <a:rPr lang="en-US" b="1" dirty="0" err="1" smtClean="0"/>
              <a:t>Thorat</a:t>
            </a:r>
            <a:r>
              <a:rPr lang="en-US" b="1" dirty="0" smtClean="0"/>
              <a:t> ( 43 )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dirty="0"/>
              <a:t>Under the guidance of </a:t>
            </a:r>
          </a:p>
          <a:p>
            <a:pPr algn="ctr"/>
            <a:r>
              <a:rPr lang="en-US" dirty="0"/>
              <a:t>Prof. </a:t>
            </a:r>
            <a:r>
              <a:rPr lang="en-US" dirty="0" err="1" smtClean="0"/>
              <a:t>Bhargavi</a:t>
            </a:r>
            <a:r>
              <a:rPr lang="en-US" dirty="0" smtClean="0"/>
              <a:t> </a:t>
            </a:r>
            <a:r>
              <a:rPr lang="en-US" dirty="0" err="1" smtClean="0"/>
              <a:t>Dalal</a:t>
            </a:r>
            <a:r>
              <a:rPr lang="en-US" dirty="0" smtClean="0"/>
              <a:t> </a:t>
            </a:r>
            <a:endParaRPr lang="en-US" dirty="0"/>
          </a:p>
          <a:p>
            <a:pPr algn="ctr"/>
            <a:r>
              <a:rPr lang="en-US" dirty="0"/>
              <a:t>Academic Year 2025 - 26</a:t>
            </a:r>
          </a:p>
          <a:p>
            <a:pPr algn="ctr"/>
            <a:endParaRPr lang="en-US" dirty="0"/>
          </a:p>
          <a:p>
            <a:pPr algn="ctr"/>
            <a:r>
              <a:rPr lang="en-US" b="1" dirty="0"/>
              <a:t>Department of CSE-Artificial Intelligence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pic>
        <p:nvPicPr>
          <p:cNvPr id="1027" name="Picture 3" descr="C:\Users\admin\Desktop\downloa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44624"/>
            <a:ext cx="1207008" cy="10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23528" y="6160219"/>
            <a:ext cx="3178696" cy="365125"/>
          </a:xfrm>
        </p:spPr>
        <p:txBody>
          <a:bodyPr/>
          <a:lstStyle/>
          <a:p>
            <a:r>
              <a:rPr lang="en-GB" sz="1600" dirty="0">
                <a:solidFill>
                  <a:schemeClr val="tx1"/>
                </a:solidFill>
              </a:rPr>
              <a:t>Wednesday, 16 March  2026</a:t>
            </a:r>
          </a:p>
        </p:txBody>
      </p:sp>
    </p:spTree>
    <p:extLst>
      <p:ext uri="{BB962C8B-B14F-4D97-AF65-F5344CB8AC3E}">
        <p14:creationId xmlns:p14="http://schemas.microsoft.com/office/powerpoint/2010/main" val="241731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043608" y="160813"/>
            <a:ext cx="6984776" cy="1035939"/>
          </a:xfrm>
          <a:solidFill>
            <a:schemeClr val="bg1"/>
          </a:solidFill>
          <a:effectLst>
            <a:outerShdw dist="35921" dir="2700000" algn="ctr" rotWithShape="0">
              <a:schemeClr val="accent1">
                <a:alpha val="50000"/>
              </a:schemeClr>
            </a:outerShdw>
          </a:effectLst>
        </p:spPr>
        <p:txBody>
          <a:bodyPr>
            <a:noAutofit/>
          </a:bodyPr>
          <a:lstStyle/>
          <a:p>
            <a:r>
              <a:rPr lang="en-US" sz="1600" dirty="0"/>
              <a:t>Nutan Maharashtra </a:t>
            </a:r>
            <a:r>
              <a:rPr lang="en-US" sz="1600" dirty="0" err="1"/>
              <a:t>Vidya</a:t>
            </a:r>
            <a:r>
              <a:rPr lang="en-US" sz="1600" dirty="0"/>
              <a:t> </a:t>
            </a:r>
            <a:r>
              <a:rPr lang="en-US" sz="1600" dirty="0" err="1"/>
              <a:t>Prasarak</a:t>
            </a:r>
            <a:r>
              <a:rPr lang="en-US" sz="1600" dirty="0"/>
              <a:t> </a:t>
            </a:r>
            <a:r>
              <a:rPr lang="en-US" sz="1600" dirty="0" err="1"/>
              <a:t>Mandal’s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800" dirty="0"/>
              <a:t> </a:t>
            </a:r>
            <a:r>
              <a:rPr lang="en-US" sz="1800" b="1" dirty="0"/>
              <a:t>NUTAN COLLEGE OF ENGINEERING AND RESEARCH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600" dirty="0"/>
              <a:t>Under Administrative Support of </a:t>
            </a:r>
            <a:r>
              <a:rPr lang="en-US" sz="1600" dirty="0" err="1"/>
              <a:t>Pimpri</a:t>
            </a:r>
            <a:r>
              <a:rPr lang="en-US" sz="1600" dirty="0"/>
              <a:t> </a:t>
            </a:r>
            <a:r>
              <a:rPr lang="en-US" sz="1600" dirty="0" err="1"/>
              <a:t>Chinchwad</a:t>
            </a:r>
            <a:r>
              <a:rPr lang="en-US" sz="1600" dirty="0"/>
              <a:t>  Education Trust </a:t>
            </a:r>
            <a:br>
              <a:rPr lang="en-US" sz="1600" dirty="0"/>
            </a:br>
            <a:r>
              <a:rPr lang="en-US" sz="1600" dirty="0"/>
              <a:t>ISO 21001:2018 EOMS Certified </a:t>
            </a:r>
            <a:r>
              <a:rPr lang="en-US" sz="1200" dirty="0"/>
              <a:t>	</a:t>
            </a:r>
            <a:br>
              <a:rPr lang="en-US" sz="1200" dirty="0"/>
            </a:br>
            <a:endParaRPr lang="en-US" sz="1400" dirty="0"/>
          </a:p>
        </p:txBody>
      </p:sp>
      <p:pic>
        <p:nvPicPr>
          <p:cNvPr id="209715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9232"/>
            <a:ext cx="1202454" cy="1033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601" name="TextBox 7"/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b="1" smtClean="0">
                <a:solidFill>
                  <a:schemeClr val="tx1"/>
                </a:solidFill>
              </a:rPr>
              <a:pPr/>
              <a:t>2</a:t>
            </a:fld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027" name="Picture 3" descr="C:\Users\admin\Desktop\downloa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867" y="0"/>
            <a:ext cx="1207008" cy="10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54392" y="2106606"/>
            <a:ext cx="48245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Solution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System Requirements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Tools / Techniques used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Web Application Design / layout 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Code screenshot</a:t>
            </a:r>
          </a:p>
          <a:p>
            <a:pPr marL="285750" indent="-285750" fontAlgn="base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Output Screenshot till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3538" y="1556792"/>
            <a:ext cx="10631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15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A7D07D-B12D-BFB8-15E1-49BAA948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076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2.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BE18AF-54B7-FF0E-5E6D-7408995AD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CortexGuard</a:t>
            </a:r>
            <a:r>
              <a:rPr lang="en-US" b="1" dirty="0"/>
              <a:t>:</a:t>
            </a:r>
            <a:r>
              <a:rPr lang="en-US" dirty="0"/>
              <a:t> AI-based platform for detecting and fixing cloud misconfigurations. </a:t>
            </a:r>
            <a:endParaRPr lang="en-US" dirty="0" smtClean="0"/>
          </a:p>
          <a:p>
            <a:r>
              <a:rPr lang="en-US" b="1" dirty="0"/>
              <a:t>Problem:</a:t>
            </a:r>
            <a:r>
              <a:rPr lang="en-US" dirty="0"/>
              <a:t> Cloud misconfigurations due to complexity and human </a:t>
            </a:r>
            <a:r>
              <a:rPr lang="en-US" dirty="0" err="1"/>
              <a:t>errors.</a:t>
            </a:r>
            <a:r>
              <a:rPr lang="en-US" dirty="0" err="1" smtClean="0"/>
              <a:t>Importance</a:t>
            </a:r>
            <a:r>
              <a:rPr lang="en-US" dirty="0" smtClean="0"/>
              <a:t> </a:t>
            </a:r>
            <a:r>
              <a:rPr lang="en-US" dirty="0"/>
              <a:t>of the </a:t>
            </a:r>
            <a:r>
              <a:rPr lang="en-US" dirty="0" smtClean="0"/>
              <a:t>project</a:t>
            </a:r>
          </a:p>
          <a:p>
            <a:r>
              <a:rPr lang="en-US" b="1" dirty="0"/>
              <a:t>Importance:</a:t>
            </a:r>
            <a:r>
              <a:rPr lang="en-US" dirty="0"/>
              <a:t> Enables automated, proactive cloud security.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978A92C-9B1F-437A-D5AC-B6806442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5E83B6D-F58F-DCD8-588F-0D1AFBD0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00" y="146802"/>
            <a:ext cx="7715200" cy="90767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F9BFE466-5B3A-35F6-95E9-6AF88474C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7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97320-3A7C-91C3-EFA6-C0335CE5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556792"/>
            <a:ext cx="8229600" cy="6480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FBAD1D-AD6E-9B39-3378-71CB5F2E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36" y="2328461"/>
            <a:ext cx="8360363" cy="340474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Problem:</a:t>
            </a:r>
            <a:r>
              <a:rPr lang="en-US" dirty="0"/>
              <a:t> Cloud misconfigurations (e.g., open access, weak permissions) that expose systems to security risks</a:t>
            </a:r>
            <a:r>
              <a:rPr lang="en-US" dirty="0" smtClean="0"/>
              <a:t>.</a:t>
            </a:r>
          </a:p>
          <a:p>
            <a:r>
              <a:rPr lang="en-US" b="1" dirty="0"/>
              <a:t>Importance:</a:t>
            </a:r>
            <a:r>
              <a:rPr lang="en-US" dirty="0"/>
              <a:t> These issues can lead to data breaches, financial loss, and system vulnerabilities, making automated security essential.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CF84CCB-38F6-5A0C-A1E3-3FC1E08C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45CD787-DF26-A327-01F9-77226E8C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9DF2B352-C18B-4026-BB0A-91D707268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3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7B8F2B-148B-C15E-8BC8-BDCABD8D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46" y="1844824"/>
            <a:ext cx="8229600" cy="6393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3D0EF9-2916-351D-EF33-6D1D7A8A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53327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Main Aim:</a:t>
            </a:r>
            <a:r>
              <a:rPr lang="en-US" dirty="0"/>
              <a:t> To design and develop an AI-based system (</a:t>
            </a:r>
            <a:r>
              <a:rPr lang="en-US" dirty="0" err="1"/>
              <a:t>CortexGuard</a:t>
            </a:r>
            <a:r>
              <a:rPr lang="en-US" dirty="0"/>
              <a:t>) for detecting and fixing cloud misconfigurations</a:t>
            </a:r>
            <a:r>
              <a:rPr lang="en-US" dirty="0" smtClean="0"/>
              <a:t>.</a:t>
            </a:r>
          </a:p>
          <a:p>
            <a:r>
              <a:rPr lang="en-US" b="1" dirty="0"/>
              <a:t>Objectives: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To improve cloud security and automation efficiency </a:t>
            </a:r>
          </a:p>
          <a:p>
            <a:pPr marL="457200" lvl="1" indent="0">
              <a:buNone/>
            </a:pPr>
            <a:r>
              <a:rPr lang="en-US" dirty="0"/>
              <a:t>To integrate </a:t>
            </a:r>
            <a:r>
              <a:rPr lang="en-US" dirty="0" err="1"/>
              <a:t>DevSecOps</a:t>
            </a:r>
            <a:r>
              <a:rPr lang="en-US" dirty="0"/>
              <a:t> for continuous protection </a:t>
            </a:r>
          </a:p>
          <a:p>
            <a:pPr marL="457200" lvl="1" indent="0">
              <a:buNone/>
            </a:pPr>
            <a:r>
              <a:rPr lang="en-US" dirty="0"/>
              <a:t>To provide a user-friendly monitoring and alert system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9DA83B5-C4A0-C164-6602-738168F0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81F9231-CD68-6F26-3FBF-89299EE3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59291A7C-7854-8170-1755-E665F1E00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57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863673-70F8-1660-91A6-11ACC20F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78" y="2085826"/>
            <a:ext cx="8566043" cy="929609"/>
          </a:xfrm>
        </p:spPr>
        <p:txBody>
          <a:bodyPr>
            <a:normAutofit/>
          </a:bodyPr>
          <a:lstStyle/>
          <a:p>
            <a:r>
              <a:rPr lang="en-US" b="1" dirty="0"/>
              <a:t>Literature Survey /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C08454-26C9-A8EB-677F-8972E9A5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879" y="2924944"/>
            <a:ext cx="8229600" cy="331236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AI improves cloud security using anomaly detection and pattern analysis </a:t>
            </a:r>
            <a:endParaRPr lang="en-US" dirty="0" smtClean="0"/>
          </a:p>
          <a:p>
            <a:r>
              <a:rPr lang="en-US" dirty="0" smtClean="0"/>
              <a:t>ML/DL </a:t>
            </a:r>
            <a:r>
              <a:rPr lang="en-US" dirty="0"/>
              <a:t>techniques widely used for threat detection in cloud systems </a:t>
            </a:r>
            <a:endParaRPr lang="en-US" dirty="0" smtClean="0"/>
          </a:p>
          <a:p>
            <a:r>
              <a:rPr lang="en-US" dirty="0" err="1" smtClean="0"/>
              <a:t>DevSecOps</a:t>
            </a:r>
            <a:r>
              <a:rPr lang="en-US" dirty="0" smtClean="0"/>
              <a:t> </a:t>
            </a:r>
            <a:r>
              <a:rPr lang="en-US" dirty="0"/>
              <a:t>integrates security into CI/CD with automation support </a:t>
            </a:r>
            <a:endParaRPr lang="en-US" dirty="0" smtClean="0"/>
          </a:p>
          <a:p>
            <a:r>
              <a:rPr lang="en-US" dirty="0" smtClean="0"/>
              <a:t>Traditional </a:t>
            </a:r>
            <a:r>
              <a:rPr lang="en-US" dirty="0"/>
              <a:t>methods are slow, rule-based, and less effective for modern attacks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9D36D5-F8B1-DB56-0C80-7FF44674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D3F920-BCF2-B748-FD58-FDDE6982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A4E92FD7-94B5-B4E0-559B-9694F5649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0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A6A636-951D-2FEF-66EF-FEA6CEF3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556792"/>
            <a:ext cx="8229600" cy="812675"/>
          </a:xfrm>
        </p:spPr>
        <p:txBody>
          <a:bodyPr>
            <a:normAutofit/>
          </a:bodyPr>
          <a:lstStyle/>
          <a:p>
            <a:r>
              <a:rPr lang="en-US" b="1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0A77B5-8BC4-CAE3-36A3-D12A35930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420888"/>
            <a:ext cx="8229600" cy="4032448"/>
          </a:xfrm>
        </p:spPr>
        <p:txBody>
          <a:bodyPr>
            <a:noAutofit/>
          </a:bodyPr>
          <a:lstStyle/>
          <a:p>
            <a:r>
              <a:rPr lang="en-US" sz="2500" b="1" dirty="0"/>
              <a:t>AI-Powered Detection</a:t>
            </a:r>
            <a:r>
              <a:rPr lang="en-US" sz="2500" dirty="0"/>
              <a:t> – Identifies cloud misconfigurations automatically </a:t>
            </a:r>
          </a:p>
          <a:p>
            <a:r>
              <a:rPr lang="en-US" sz="2500" b="1" dirty="0"/>
              <a:t>Agentic AI</a:t>
            </a:r>
            <a:r>
              <a:rPr lang="en-US" sz="2500" dirty="0"/>
              <a:t> – Autonomous monitoring &amp; decision-making </a:t>
            </a:r>
          </a:p>
          <a:p>
            <a:r>
              <a:rPr lang="en-US" sz="2500" b="1" dirty="0"/>
              <a:t>Auto-Remediation</a:t>
            </a:r>
            <a:r>
              <a:rPr lang="en-US" sz="2500" dirty="0"/>
              <a:t> – Fixes issues without human input </a:t>
            </a:r>
          </a:p>
          <a:p>
            <a:r>
              <a:rPr lang="en-US" sz="2500" b="1" dirty="0" err="1"/>
              <a:t>DevSecOps</a:t>
            </a:r>
            <a:r>
              <a:rPr lang="en-US" sz="2500" b="1" dirty="0"/>
              <a:t> Integration</a:t>
            </a:r>
            <a:r>
              <a:rPr lang="en-US" sz="2500" dirty="0"/>
              <a:t> – Works within CI/CD pipelines </a:t>
            </a:r>
          </a:p>
          <a:p>
            <a:r>
              <a:rPr lang="en-US" sz="2500" b="1" dirty="0"/>
              <a:t>Real-Time Monitoring</a:t>
            </a:r>
            <a:r>
              <a:rPr lang="en-US" sz="2500" dirty="0"/>
              <a:t> – Continuous cloud scanning </a:t>
            </a:r>
          </a:p>
          <a:p>
            <a:r>
              <a:rPr lang="en-US" sz="2500" b="1" dirty="0"/>
              <a:t>Multi-Cloud Support</a:t>
            </a:r>
            <a:r>
              <a:rPr lang="en-US" sz="2500" dirty="0"/>
              <a:t> – AWS, Azure, GCP </a:t>
            </a:r>
          </a:p>
          <a:p>
            <a:r>
              <a:rPr lang="en-US" sz="2500" b="1" dirty="0"/>
              <a:t>Dashboard &amp; Alerts</a:t>
            </a:r>
            <a:r>
              <a:rPr lang="en-US" sz="2500" dirty="0"/>
              <a:t> – Centralized visibility </a:t>
            </a:r>
          </a:p>
          <a:p>
            <a:r>
              <a:rPr lang="en-US" sz="2500" b="1" dirty="0"/>
              <a:t>Compliance Checks</a:t>
            </a:r>
            <a:r>
              <a:rPr lang="en-US" sz="2500" dirty="0"/>
              <a:t> – GDPR, ISO, SOC2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F6A4E7-C8B5-690B-C3D7-26403104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C99490C-2DA8-10E8-A04B-062CF0FC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E2DC40B6-7AF9-1186-6EBD-F4DEA8166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286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EF6AB3-0B58-7837-0C96-6CEEC4F9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17" y="1916832"/>
            <a:ext cx="8229600" cy="7489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Methodology /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284BF1-5E4F-69D2-EAC3-3D1DD880F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17" y="2852936"/>
            <a:ext cx="8229600" cy="2049091"/>
          </a:xfrm>
        </p:spPr>
        <p:txBody>
          <a:bodyPr/>
          <a:lstStyle/>
          <a:p>
            <a:r>
              <a:rPr lang="en-US" dirty="0" smtClean="0"/>
              <a:t>Working process of the project</a:t>
            </a:r>
          </a:p>
          <a:p>
            <a:r>
              <a:rPr lang="en-US" dirty="0" smtClean="0"/>
              <a:t>Block diagram / architecture diagram</a:t>
            </a:r>
          </a:p>
          <a:p>
            <a:r>
              <a:rPr lang="en-US" dirty="0" smtClean="0"/>
              <a:t>Flow of the system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43C6B4-DC6A-BC71-9150-F9D03CF0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7073C33-1850-9D6A-42FB-143CE5A5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F552083C-7098-8F63-5E0B-278AD1C5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03" y="1556792"/>
            <a:ext cx="7736061" cy="508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532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EEEF6AB3-0B58-7837-0C96-6CEEC4F99987}"/>
              </a:ext>
            </a:extLst>
          </p:cNvPr>
          <p:cNvSpPr txBox="1">
            <a:spLocks/>
          </p:cNvSpPr>
          <p:nvPr/>
        </p:nvSpPr>
        <p:spPr>
          <a:xfrm>
            <a:off x="403617" y="1916832"/>
            <a:ext cx="8229600" cy="74894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8284BF1-5E4F-69D2-EAC3-3D1DD880F606}"/>
              </a:ext>
            </a:extLst>
          </p:cNvPr>
          <p:cNvSpPr txBox="1">
            <a:spLocks/>
          </p:cNvSpPr>
          <p:nvPr/>
        </p:nvSpPr>
        <p:spPr>
          <a:xfrm>
            <a:off x="446517" y="2852936"/>
            <a:ext cx="8229600" cy="20490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C143C6B4-DC6A-BC71-9150-F9D03CF020B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C248AB-E565-412B-9D95-9B07D6A4F3F3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7073C33-1850-9D6A-42FB-143CE5A5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F552083C-7098-8F63-5E0B-278AD1C5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714500"/>
            <a:ext cx="8712968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063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4189C7-567C-B882-3C39-39819EAF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1222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/>
              <a:t>Tools and 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C9D0E0-51D7-54FC-AD40-557C7BCD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708920"/>
            <a:ext cx="8435280" cy="38164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Programming Language: </a:t>
            </a:r>
            <a:r>
              <a:rPr lang="en-US" dirty="0"/>
              <a:t>Python, </a:t>
            </a:r>
            <a:r>
              <a:rPr lang="en-US" dirty="0" smtClean="0"/>
              <a:t>JavaScript</a:t>
            </a:r>
          </a:p>
          <a:p>
            <a:r>
              <a:rPr lang="en-IN" dirty="0" smtClean="0"/>
              <a:t>Database</a:t>
            </a:r>
            <a:r>
              <a:rPr lang="en-IN" dirty="0"/>
              <a:t>: </a:t>
            </a:r>
            <a:r>
              <a:rPr lang="en-US" dirty="0"/>
              <a:t>MongoDB, </a:t>
            </a:r>
            <a:r>
              <a:rPr lang="en-US" dirty="0" smtClean="0"/>
              <a:t>MySQL</a:t>
            </a:r>
          </a:p>
          <a:p>
            <a:r>
              <a:rPr lang="en-IN" dirty="0" smtClean="0"/>
              <a:t>Platform</a:t>
            </a:r>
            <a:r>
              <a:rPr lang="en-IN" dirty="0"/>
              <a:t>: </a:t>
            </a:r>
            <a:r>
              <a:rPr lang="en-IN" dirty="0" err="1"/>
              <a:t>Jupyter</a:t>
            </a:r>
            <a:r>
              <a:rPr lang="en-IN" dirty="0"/>
              <a:t> Notebook / VS Code</a:t>
            </a:r>
          </a:p>
          <a:p>
            <a:r>
              <a:rPr lang="en-IN" dirty="0"/>
              <a:t>Libraries / Frameworks </a:t>
            </a:r>
            <a:r>
              <a:rPr lang="en-IN" dirty="0" smtClean="0"/>
              <a:t>used:</a:t>
            </a:r>
          </a:p>
          <a:p>
            <a:r>
              <a:rPr lang="en-US" dirty="0"/>
              <a:t>Backend: Node.js, </a:t>
            </a:r>
            <a:r>
              <a:rPr lang="en-US" dirty="0" err="1"/>
              <a:t>FastAPI</a:t>
            </a:r>
            <a:r>
              <a:rPr lang="en-US" dirty="0"/>
              <a:t> </a:t>
            </a:r>
          </a:p>
          <a:p>
            <a:r>
              <a:rPr lang="en-US" dirty="0"/>
              <a:t>Frontend: React.js </a:t>
            </a:r>
          </a:p>
          <a:p>
            <a:r>
              <a:rPr lang="en-US" dirty="0"/>
              <a:t>AI/ML: </a:t>
            </a:r>
            <a:r>
              <a:rPr lang="en-US" dirty="0" err="1"/>
              <a:t>TensorFlow</a:t>
            </a:r>
            <a:r>
              <a:rPr lang="en-US" dirty="0"/>
              <a:t>, </a:t>
            </a:r>
            <a:r>
              <a:rPr lang="en-US" dirty="0" err="1"/>
              <a:t>Scikit</a:t>
            </a:r>
            <a:r>
              <a:rPr lang="en-US" dirty="0"/>
              <a:t>-learn </a:t>
            </a:r>
          </a:p>
          <a:p>
            <a:r>
              <a:rPr lang="en-US" dirty="0"/>
              <a:t>Cloud SDKs: AWS SDK, Azure SDK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9FB8F75-1C2F-2DB5-72BF-92D9500C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D5F39FD-18AF-51E2-471D-5AA294EB1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062CF898-0668-6F12-7040-467C4F6F2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9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E29786-BB0F-D82B-1556-40A36139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9" y="1366805"/>
            <a:ext cx="8229600" cy="6220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4771FE-A188-4CB4-E61A-DED113E4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330138"/>
            <a:ext cx="8229600" cy="433922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Requirement Analysis</a:t>
            </a:r>
            <a:r>
              <a:rPr lang="en-US" dirty="0"/>
              <a:t> – Identify cloud security needs </a:t>
            </a:r>
          </a:p>
          <a:p>
            <a:r>
              <a:rPr lang="en-US" b="1" dirty="0"/>
              <a:t>System Design</a:t>
            </a:r>
            <a:r>
              <a:rPr lang="en-US" dirty="0"/>
              <a:t> – Architecture &amp; module planning </a:t>
            </a:r>
          </a:p>
          <a:p>
            <a:r>
              <a:rPr lang="en-US" b="1" dirty="0"/>
              <a:t>Tech Stack Setup</a:t>
            </a:r>
            <a:r>
              <a:rPr lang="en-US" dirty="0"/>
              <a:t> – Install tools &amp; frameworks </a:t>
            </a:r>
          </a:p>
          <a:p>
            <a:r>
              <a:rPr lang="en-US" b="1" dirty="0"/>
              <a:t>Frontend Development</a:t>
            </a:r>
            <a:r>
              <a:rPr lang="en-US" dirty="0"/>
              <a:t> – Build dashboard (UI) </a:t>
            </a:r>
          </a:p>
          <a:p>
            <a:r>
              <a:rPr lang="en-US" b="1" dirty="0"/>
              <a:t>Backend Development</a:t>
            </a:r>
            <a:r>
              <a:rPr lang="en-US" dirty="0"/>
              <a:t> – APIs &amp; logic implementation </a:t>
            </a:r>
          </a:p>
          <a:p>
            <a:r>
              <a:rPr lang="en-US" b="1" dirty="0"/>
              <a:t>AI Model Integration</a:t>
            </a:r>
            <a:r>
              <a:rPr lang="en-US" dirty="0"/>
              <a:t> – Detection &amp; decision engine </a:t>
            </a:r>
          </a:p>
          <a:p>
            <a:r>
              <a:rPr lang="en-US" b="1" dirty="0"/>
              <a:t>Cloud Integration</a:t>
            </a:r>
            <a:r>
              <a:rPr lang="en-US" dirty="0"/>
              <a:t> – Connect AWS/Azure/GCP APIs </a:t>
            </a:r>
          </a:p>
          <a:p>
            <a:r>
              <a:rPr lang="en-US" b="1" dirty="0"/>
              <a:t>Testing</a:t>
            </a:r>
            <a:r>
              <a:rPr lang="en-US" dirty="0"/>
              <a:t> – Functional &amp; security testing </a:t>
            </a:r>
          </a:p>
          <a:p>
            <a:r>
              <a:rPr lang="en-US" b="1" dirty="0"/>
              <a:t>Deployment</a:t>
            </a:r>
            <a:r>
              <a:rPr lang="en-US" dirty="0"/>
              <a:t> – Docker/Kubernetes setup </a:t>
            </a:r>
          </a:p>
          <a:p>
            <a:r>
              <a:rPr lang="en-US" b="1" dirty="0"/>
              <a:t>Monitoring &amp; Updates</a:t>
            </a:r>
            <a:r>
              <a:rPr lang="en-US" dirty="0"/>
              <a:t> – Continuous improvement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96D400-0B43-665E-271B-BA5176DB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38BD486-944B-61D4-6D56-5943AA44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BE20BCB-F5E1-CC43-0D3D-14EB36A1F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7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812E8AAA-8C95-6053-FE7A-8D3B41136567}"/>
              </a:ext>
            </a:extLst>
          </p:cNvPr>
          <p:cNvSpPr txBox="1">
            <a:spLocks/>
          </p:cNvSpPr>
          <p:nvPr/>
        </p:nvSpPr>
        <p:spPr>
          <a:xfrm>
            <a:off x="457200" y="162401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/>
              <a:t>Results / Output</a:t>
            </a:r>
            <a:endParaRPr lang="en-IN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ABFECC4E-C746-C4C2-5994-7FCA2942832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C248AB-E565-412B-9D95-9B07D6A4F3F3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4C84D07-B707-3D6F-C66B-D3123A88F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AAD1B02D-0F6B-AF37-29AC-680FA7CFC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19555"/>
            <a:ext cx="6696744" cy="3795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9210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2E8AAA-8C95-6053-FE7A-8D3B4113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2401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Results / Output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74" y="2492375"/>
            <a:ext cx="7652677" cy="43656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FECC4E-C746-C4C2-5994-7FCA2942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4C84D07-B707-3D6F-C66B-D3123A88F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AAD1B02D-0F6B-AF37-29AC-680FA7CFC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9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4B55DB-5C4F-6FD8-E129-60973589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12" y="1424454"/>
            <a:ext cx="8229600" cy="796950"/>
          </a:xfrm>
        </p:spPr>
        <p:txBody>
          <a:bodyPr>
            <a:normAutofit/>
          </a:bodyPr>
          <a:lstStyle/>
          <a:p>
            <a:r>
              <a:rPr lang="en-US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B0A6EA-11D5-B979-7695-82374EA43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276872"/>
            <a:ext cx="8229600" cy="5534075"/>
          </a:xfrm>
        </p:spPr>
        <p:txBody>
          <a:bodyPr/>
          <a:lstStyle/>
          <a:p>
            <a:r>
              <a:rPr lang="en-US" b="1" dirty="0"/>
              <a:t>Cloud Security Automation</a:t>
            </a:r>
            <a:r>
              <a:rPr lang="en-US" dirty="0"/>
              <a:t> – Automatically detect and fix misconfigurations in </a:t>
            </a:r>
            <a:r>
              <a:rPr lang="en-US" dirty="0" smtClean="0"/>
              <a:t>real-time</a:t>
            </a:r>
          </a:p>
          <a:p>
            <a:r>
              <a:rPr lang="en-US" b="1" dirty="0" err="1"/>
              <a:t>DevSecOps</a:t>
            </a:r>
            <a:r>
              <a:rPr lang="en-US" b="1" dirty="0"/>
              <a:t> Integration</a:t>
            </a:r>
            <a:r>
              <a:rPr lang="en-US" dirty="0"/>
              <a:t> – Embed security into CI/CD pipelines for safer deployments</a:t>
            </a:r>
            <a:endParaRPr lang="en-US" dirty="0" smtClean="0"/>
          </a:p>
          <a:p>
            <a:r>
              <a:rPr lang="en-US" b="1" dirty="0"/>
              <a:t>IT &amp; SaaS Companies</a:t>
            </a:r>
            <a:r>
              <a:rPr lang="en-US" dirty="0"/>
              <a:t> – Multi-cloud infrastructure protection </a:t>
            </a:r>
            <a:endParaRPr lang="en-US" dirty="0" smtClean="0"/>
          </a:p>
          <a:p>
            <a:r>
              <a:rPr lang="en-US" b="1" dirty="0" smtClean="0"/>
              <a:t>Banking </a:t>
            </a:r>
            <a:r>
              <a:rPr lang="en-US" b="1" dirty="0"/>
              <a:t>&amp; Finance</a:t>
            </a:r>
            <a:r>
              <a:rPr lang="en-US" dirty="0"/>
              <a:t> – Secure sensitive financial data in cloud </a:t>
            </a:r>
            <a:r>
              <a:rPr lang="en-US" dirty="0" smtClean="0"/>
              <a:t>systems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75FFC2A-94E8-52B6-12E1-B982BB76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B6DF769-670A-FC86-E9B5-E257910BE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C300F096-20D6-F363-BB39-FB4D833E5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00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FF28B9-FC8A-09B4-2A3D-9A3B04850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37" y="139129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A5AB22-D00E-1FE9-16A2-960BF7C15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420888"/>
            <a:ext cx="8229600" cy="5562675"/>
          </a:xfrm>
        </p:spPr>
        <p:txBody>
          <a:bodyPr/>
          <a:lstStyle/>
          <a:p>
            <a:r>
              <a:rPr lang="en-US" b="1" dirty="0"/>
              <a:t>Automation</a:t>
            </a:r>
            <a:r>
              <a:rPr lang="en-US" dirty="0"/>
              <a:t> – Reduces manual work, AI fixes issues automatically </a:t>
            </a:r>
            <a:endParaRPr lang="en-US" dirty="0" smtClean="0"/>
          </a:p>
          <a:p>
            <a:r>
              <a:rPr lang="en-US" b="1" dirty="0" smtClean="0"/>
              <a:t>Real-Time </a:t>
            </a:r>
            <a:r>
              <a:rPr lang="en-US" b="1" dirty="0"/>
              <a:t>Detection</a:t>
            </a:r>
            <a:r>
              <a:rPr lang="en-US" dirty="0"/>
              <a:t> – Instant identification of misconfigurations </a:t>
            </a:r>
            <a:endParaRPr lang="en-US" dirty="0" smtClean="0"/>
          </a:p>
          <a:p>
            <a:r>
              <a:rPr lang="en-US" b="1" dirty="0" smtClean="0"/>
              <a:t>Scalable</a:t>
            </a:r>
            <a:r>
              <a:rPr lang="en-US" dirty="0" smtClean="0"/>
              <a:t> </a:t>
            </a:r>
            <a:r>
              <a:rPr lang="en-US" dirty="0"/>
              <a:t>– Works across multi-cloud environments </a:t>
            </a:r>
            <a:endParaRPr lang="en-US" dirty="0" smtClean="0"/>
          </a:p>
          <a:p>
            <a:r>
              <a:rPr lang="en-US" b="1" dirty="0" smtClean="0"/>
              <a:t>Improved </a:t>
            </a:r>
            <a:r>
              <a:rPr lang="en-US" b="1" dirty="0"/>
              <a:t>Accuracy</a:t>
            </a:r>
            <a:r>
              <a:rPr lang="en-US" dirty="0"/>
              <a:t> – Fewer false positives than traditional methods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5EF72A-A76A-DEDD-29F9-AB1C4348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F21FC7-330B-A2DB-B1EA-2F3218B4D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471924C5-5705-AE22-5965-6B37C3A33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37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BC89D9-8B25-0A80-FBD5-BF2C64F9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1" y="148478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Limitations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C4E563-F671-5819-5640-C7D063DD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597759"/>
            <a:ext cx="8075240" cy="407160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Limited AI Training Data</a:t>
            </a:r>
            <a:r>
              <a:rPr lang="en-US" dirty="0"/>
              <a:t> – Accuracy depends on the quality and amount of historical cloud configuration data </a:t>
            </a:r>
            <a:endParaRPr lang="en-US" dirty="0" smtClean="0"/>
          </a:p>
          <a:p>
            <a:r>
              <a:rPr lang="en-US" b="1" dirty="0" smtClean="0"/>
              <a:t>Cloud-Specific </a:t>
            </a:r>
            <a:r>
              <a:rPr lang="en-US" b="1" dirty="0"/>
              <a:t>Dependencies</a:t>
            </a:r>
            <a:r>
              <a:rPr lang="en-US" dirty="0"/>
              <a:t> – Some features may work differently across AWS, Azure, GCP </a:t>
            </a:r>
            <a:endParaRPr lang="en-US" dirty="0" smtClean="0"/>
          </a:p>
          <a:p>
            <a:r>
              <a:rPr lang="en-US" b="1" dirty="0" smtClean="0"/>
              <a:t>Resource </a:t>
            </a:r>
            <a:r>
              <a:rPr lang="en-US" b="1" dirty="0"/>
              <a:t>Intensive</a:t>
            </a:r>
            <a:r>
              <a:rPr lang="en-US" dirty="0"/>
              <a:t> – Continuous scanning and AI processing require significant computing power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A92F902-EF52-9EC3-D68A-2C4C6CB2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CA54AC-AE11-FC86-0E25-5D0F42F8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325CA35C-D0CC-A8F5-A91D-4037D79A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D2F2F-9103-A992-1BF3-0D152AB0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37" y="1391290"/>
            <a:ext cx="8229600" cy="1224136"/>
          </a:xfrm>
        </p:spPr>
        <p:txBody>
          <a:bodyPr>
            <a:normAutofit/>
          </a:bodyPr>
          <a:lstStyle/>
          <a:p>
            <a:r>
              <a:rPr lang="en-US" b="1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0973DA-3DA9-FF90-4B48-BE2B08DD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8164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Enhanced AI Models</a:t>
            </a:r>
            <a:r>
              <a:rPr lang="en-US" dirty="0"/>
              <a:t> – Use deep learning for more accurate misconfiguration detection </a:t>
            </a:r>
            <a:endParaRPr lang="en-US" dirty="0" smtClean="0"/>
          </a:p>
          <a:p>
            <a:r>
              <a:rPr lang="en-US" b="1" dirty="0" smtClean="0"/>
              <a:t>Predictive </a:t>
            </a:r>
            <a:r>
              <a:rPr lang="en-US" b="1" dirty="0"/>
              <a:t>Analytics</a:t>
            </a:r>
            <a:r>
              <a:rPr lang="en-US" dirty="0"/>
              <a:t> – Forecast potential security risks before they occur </a:t>
            </a:r>
            <a:endParaRPr lang="en-US" dirty="0" smtClean="0"/>
          </a:p>
          <a:p>
            <a:r>
              <a:rPr lang="en-US" b="1" dirty="0" smtClean="0"/>
              <a:t>Multi-Cloud </a:t>
            </a:r>
            <a:r>
              <a:rPr lang="en-US" b="1" dirty="0"/>
              <a:t>Automation</a:t>
            </a:r>
            <a:r>
              <a:rPr lang="en-US" dirty="0"/>
              <a:t> – Seamless support for AWS, Azure, GCP, and hybrid clouds </a:t>
            </a:r>
            <a:endParaRPr lang="en-US" dirty="0" smtClean="0"/>
          </a:p>
          <a:p>
            <a:r>
              <a:rPr lang="en-US" b="1" dirty="0" smtClean="0"/>
              <a:t>Customizable </a:t>
            </a:r>
            <a:r>
              <a:rPr lang="en-US" b="1" dirty="0"/>
              <a:t>Remediation Policies</a:t>
            </a:r>
            <a:r>
              <a:rPr lang="en-US" dirty="0"/>
              <a:t> – Let users define automated actions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855BCE-9577-033F-1653-DB8202EF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C0465CC-1E0D-CA4B-3C1B-916BA257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923A2EBF-0580-3577-622B-E0888F186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1C3D15-EBBA-E962-2D67-8F36CBA5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83" y="1424454"/>
            <a:ext cx="8229600" cy="796950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A17991-6E0D-0081-3440-785033094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66" y="2276872"/>
            <a:ext cx="8229600" cy="5606083"/>
          </a:xfrm>
        </p:spPr>
        <p:txBody>
          <a:bodyPr/>
          <a:lstStyle/>
          <a:p>
            <a:r>
              <a:rPr lang="en-US" b="1" dirty="0"/>
              <a:t>Automated Detection:</a:t>
            </a:r>
            <a:r>
              <a:rPr lang="en-US" dirty="0"/>
              <a:t> AI identifies misconfigurations in real-time </a:t>
            </a:r>
            <a:endParaRPr lang="en-US" dirty="0" smtClean="0"/>
          </a:p>
          <a:p>
            <a:r>
              <a:rPr lang="en-US" b="1" dirty="0" smtClean="0"/>
              <a:t>Self-Healing </a:t>
            </a:r>
            <a:r>
              <a:rPr lang="en-US" b="1" dirty="0"/>
              <a:t>System:</a:t>
            </a:r>
            <a:r>
              <a:rPr lang="en-US" dirty="0"/>
              <a:t> Issues fixed automatically without manual intervention </a:t>
            </a:r>
            <a:r>
              <a:rPr lang="en-US" b="1" dirty="0"/>
              <a:t>Improved Security:</a:t>
            </a:r>
            <a:r>
              <a:rPr lang="en-US" dirty="0"/>
              <a:t> Reduced risk of breaches and human </a:t>
            </a:r>
            <a:r>
              <a:rPr lang="en-US" dirty="0" smtClean="0"/>
              <a:t>errors</a:t>
            </a:r>
          </a:p>
          <a:p>
            <a:r>
              <a:rPr lang="en-US" dirty="0" smtClean="0"/>
              <a:t> </a:t>
            </a:r>
            <a:r>
              <a:rPr lang="en-US" b="1" dirty="0" err="1"/>
              <a:t>DevSecOps</a:t>
            </a:r>
            <a:r>
              <a:rPr lang="en-US" b="1" dirty="0"/>
              <a:t> Integration:</a:t>
            </a:r>
            <a:r>
              <a:rPr lang="en-US" dirty="0"/>
              <a:t> Security embedded in CI/CD pipelines </a:t>
            </a:r>
            <a:endParaRPr lang="en-US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25377D-B184-789B-2779-23158DFB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5B53FB1-1885-07D4-E40C-6693E6CA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B091D9C-17C7-77C7-F95A-755CE436A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5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8CC761-B27D-DFD1-0C7F-72A3F012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83" y="139129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460A54-C78A-7F87-49F3-6665A005C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436" y="2767012"/>
            <a:ext cx="8710059" cy="4525963"/>
          </a:xfrm>
        </p:spPr>
        <p:txBody>
          <a:bodyPr>
            <a:normAutofit/>
          </a:bodyPr>
          <a:lstStyle/>
          <a:p>
            <a:r>
              <a:rPr lang="en-US" sz="2500" b="1" dirty="0"/>
              <a:t>Detecting Security System Misconfiguration Threats in Cloud Computing Environments Using AI”</a:t>
            </a:r>
            <a:r>
              <a:rPr lang="en-US" sz="2500" dirty="0"/>
              <a:t> – </a:t>
            </a:r>
            <a:r>
              <a:rPr lang="en-US" sz="2500" dirty="0" err="1"/>
              <a:t>ResearchGate</a:t>
            </a:r>
            <a:r>
              <a:rPr lang="en-US" sz="2500" dirty="0"/>
              <a:t>, 2023 </a:t>
            </a:r>
            <a:r>
              <a:rPr lang="en-US" sz="2500" b="1" dirty="0" smtClean="0"/>
              <a:t>“</a:t>
            </a:r>
          </a:p>
          <a:p>
            <a:r>
              <a:rPr lang="en-US" sz="2500" b="1" dirty="0" smtClean="0"/>
              <a:t>Autonomous </a:t>
            </a:r>
            <a:r>
              <a:rPr lang="en-US" sz="2500" b="1" dirty="0"/>
              <a:t>Threat Detection and Response in Cloud Security: AI-Driven Strategies”</a:t>
            </a:r>
            <a:r>
              <a:rPr lang="en-US" sz="2500" dirty="0"/>
              <a:t> – Moonlight.io Survey, 2022 </a:t>
            </a:r>
            <a:endParaRPr lang="en-US" sz="2500" dirty="0" smtClean="0"/>
          </a:p>
          <a:p>
            <a:r>
              <a:rPr lang="en-US" sz="2500" b="1" dirty="0" smtClean="0"/>
              <a:t>“</a:t>
            </a:r>
            <a:r>
              <a:rPr lang="en-US" sz="2500" b="1" dirty="0"/>
              <a:t>Cloud Security Posture Management: A Comprehensive Review”</a:t>
            </a:r>
            <a:r>
              <a:rPr lang="en-US" sz="2500" dirty="0"/>
              <a:t> – </a:t>
            </a:r>
            <a:r>
              <a:rPr lang="en-US" sz="2500" dirty="0" err="1"/>
              <a:t>ScienceDirect</a:t>
            </a:r>
            <a:r>
              <a:rPr lang="en-US" sz="2500" dirty="0"/>
              <a:t>, 2021 </a:t>
            </a:r>
            <a:endParaRPr lang="en-US" sz="2500" dirty="0" smtClean="0"/>
          </a:p>
          <a:p>
            <a:r>
              <a:rPr lang="en-US" sz="2500" b="1" dirty="0" smtClean="0"/>
              <a:t>“</a:t>
            </a:r>
            <a:r>
              <a:rPr lang="en-US" sz="2500" b="1" dirty="0" err="1"/>
              <a:t>DevSecOps</a:t>
            </a:r>
            <a:r>
              <a:rPr lang="en-US" sz="2500" b="1" dirty="0"/>
              <a:t> Automation and AI Integration in Cloud Security”</a:t>
            </a:r>
            <a:r>
              <a:rPr lang="en-US" sz="2500" dirty="0"/>
              <a:t> – IEEE, 2022</a:t>
            </a:r>
            <a:endParaRPr lang="en-IN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DA6A409-9040-A72E-5A9D-C3A48008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FE3C93B-B7FD-51DF-2370-F48DA898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" y="136525"/>
            <a:ext cx="8075240" cy="95002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DD357D66-C656-67CF-704F-1C0F8AAA0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" y="1052736"/>
            <a:ext cx="9144000" cy="338554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 Narrow" panose="020B0606020202030204" pitchFamily="34" charset="0"/>
              </a:rPr>
              <a:t>Seminar - II</a:t>
            </a:r>
            <a:endParaRPr lang="en-IN" sz="16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</TotalTime>
  <Words>788</Words>
  <Application>Microsoft Office PowerPoint</Application>
  <PresentationFormat>On-screen Show (4:3)</PresentationFormat>
  <Paragraphs>150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Nutan Maharashtra Vidya Prasarak Mandal’s   NUTAN COLLEGE OF ENGINEERING AND RESEARCH  Under Administrative Support of Pimpri Chinchwad  Education Trust  ISO 21001:2018 EOMS Certified   </vt:lpstr>
      <vt:lpstr>Nutan Maharashtra Vidya Prasarak Mandal’s   NUTAN COLLEGE OF ENGINEERING AND RESEARCH  Under Administrative Support of Pimpri Chinchwad  Education Trust  ISO 21001:2018 EOMS Certified   </vt:lpstr>
      <vt:lpstr>2. Introduction</vt:lpstr>
      <vt:lpstr>Problem Statement</vt:lpstr>
      <vt:lpstr>Objectives</vt:lpstr>
      <vt:lpstr>Literature Survey / Existing System</vt:lpstr>
      <vt:lpstr>Proposed System</vt:lpstr>
      <vt:lpstr>Methodology / System Architecture</vt:lpstr>
      <vt:lpstr>PowerPoint Presentation</vt:lpstr>
      <vt:lpstr>Tools and Technologies Used</vt:lpstr>
      <vt:lpstr>Implementation</vt:lpstr>
      <vt:lpstr>PowerPoint Presentation</vt:lpstr>
      <vt:lpstr>Results / Output</vt:lpstr>
      <vt:lpstr>Applications</vt:lpstr>
      <vt:lpstr>Advantages</vt:lpstr>
      <vt:lpstr>Limitations </vt:lpstr>
      <vt:lpstr>Future Scope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Kevin Hickey</dc:creator>
  <cp:lastModifiedBy>Admin</cp:lastModifiedBy>
  <cp:revision>90</cp:revision>
  <dcterms:created xsi:type="dcterms:W3CDTF">2010-06-24T14:41:07Z</dcterms:created>
  <dcterms:modified xsi:type="dcterms:W3CDTF">2026-04-07T06:28:25Z</dcterms:modified>
</cp:coreProperties>
</file>